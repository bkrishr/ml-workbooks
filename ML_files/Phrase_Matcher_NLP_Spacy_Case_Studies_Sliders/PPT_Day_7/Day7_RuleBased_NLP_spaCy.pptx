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NLP with spaCy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Matching and Custom Entity Rules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347472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rule-based NLP vs ML-based NLP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872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pattern matching using spaCy</a:t>
            </a:r>
            <a:endParaRPr lang="en-US" sz="16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86000"/>
            <a:ext cx="365760" cy="3657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8872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PhraseMatcher for keyword extraction</a:t>
            </a:r>
            <a:endParaRPr lang="en-US" sz="16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743200"/>
            <a:ext cx="365760" cy="3657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8872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custom entity recognition rules</a:t>
            </a:r>
            <a:endParaRPr lang="en-US" sz="16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200400"/>
            <a:ext cx="365760" cy="36576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8872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EntityRuler for domain-specific NLP tasks</a:t>
            </a:r>
            <a:endParaRPr lang="en-US" sz="1600" dirty="0"/>
          </a:p>
        </p:txBody>
      </p:sp>
      <p:sp>
        <p:nvSpPr>
          <p:cNvPr id="14" name="Text 7"/>
          <p:cNvSpPr/>
          <p:nvPr/>
        </p:nvSpPr>
        <p:spPr>
          <a:xfrm>
            <a:off x="640080" y="39319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session, learners will be equipped with practical skills to implement rule-based NLP solutions.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Rule-Based NLP?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3931920" cy="3200400"/>
          </a:xfrm>
          <a:prstGeom prst="rect">
            <a:avLst/>
          </a:prstGeom>
          <a:solidFill>
            <a:srgbClr val="E8F5F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NLP uses: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116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2011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Handcrafted linguistic rules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46888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468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Patterns defined by experts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2608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0160" y="29260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training data required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640080" y="3474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640080" y="37947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datasets • Domain-specific extraction • Quick automation solutions</a:t>
            </a:r>
            <a:endParaRPr lang="en-US" sz="13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1828800"/>
            <a:ext cx="2286000" cy="22860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846320" y="42976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Precise control over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matching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vs ML-Based NLP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02C39A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76809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697480"/>
                <a:gridCol w="26974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Rule-Based NLP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ML-Based NLP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Requires Data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Accuracy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High for known patterns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Better generalization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Setup Time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Fast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Longer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Flexibility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Limited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High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3840480"/>
            <a:ext cx="7680960" cy="731520"/>
          </a:xfrm>
          <a:prstGeom prst="rect">
            <a:avLst/>
          </a:prstGeom>
          <a:solidFill>
            <a:srgbClr val="E8F5F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7764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54480" y="397764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approaches are often combined to leverage the strengths of each method.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Matching in spaCy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spaCy provides matchers for: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73152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28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patterns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73152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377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Phrase patterns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926080"/>
            <a:ext cx="73152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926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entity rules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for:</a:t>
            </a:r>
            <a:endParaRPr lang="en-US" sz="18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828800"/>
            <a:ext cx="320040" cy="3200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486400" y="1828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Extracting product names</a:t>
            </a:r>
            <a:endParaRPr lang="en-US" sz="15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28600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86400" y="2286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Identifying complaints</a:t>
            </a:r>
            <a:endParaRPr lang="en-US" sz="15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74320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486400" y="2743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Detecting medical terms</a:t>
            </a:r>
            <a:endParaRPr lang="en-US" sz="15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657600"/>
            <a:ext cx="1097280" cy="1097280"/>
          </a:xfrm>
          <a:prstGeom prst="rect">
            <a:avLst/>
          </a:prstGeom>
        </p:spPr>
      </p:pic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65760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Matcher Example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371600"/>
            <a:ext cx="7863840" cy="640080"/>
          </a:xfrm>
          <a:prstGeom prst="rect">
            <a:avLst/>
          </a:prstGeom>
          <a:solidFill>
            <a:srgbClr val="E8F5F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0876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Pattern: "side effect"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7863840" cy="91440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317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pattern = [{"LOWER": "side"}, {"LOWER": "effect"}]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291840"/>
            <a:ext cx="7863840" cy="731520"/>
          </a:xfrm>
          <a:prstGeom prst="rect">
            <a:avLst/>
          </a:prstGeom>
          <a:solidFill>
            <a:srgbClr val="E8F5F7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374904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"This drug has a side effect of nausea"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286000" y="4206240"/>
            <a:ext cx="4572000" cy="548640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4343400"/>
            <a:ext cx="274320" cy="274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200400" y="42062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found successfully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PhraseMatcher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PhraseMatcher is useful when matching known phrases.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840480" cy="2377440"/>
          </a:xfrm>
          <a:prstGeom prst="rect">
            <a:avLst/>
          </a:prstGeom>
          <a:solidFill>
            <a:srgbClr val="E8F5F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3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use cases: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2560320"/>
            <a:ext cx="73152" cy="3657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560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medicine names from text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73152" cy="3657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017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brand mentions in reviews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749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and efficient for large phrase lists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920240"/>
            <a:ext cx="3840480" cy="237744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2103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phrases: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46320" y="2651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"Type 2 Diabetes"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46320" y="3017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"Blood Pressure"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46320" y="3383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"Heart Attack"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PhraseMatcher Workflow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14630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011680" y="1463040"/>
            <a:ext cx="5760720" cy="457200"/>
          </a:xfrm>
          <a:prstGeom prst="rect">
            <a:avLst/>
          </a:prstGeom>
          <a:solidFill>
            <a:srgbClr val="E8F5F7"/>
          </a:solidFill>
          <a:ln/>
        </p:spPr>
      </p:sp>
      <p:sp>
        <p:nvSpPr>
          <p:cNvPr id="7" name="Text 5"/>
          <p:cNvSpPr/>
          <p:nvPr/>
        </p:nvSpPr>
        <p:spPr>
          <a:xfrm>
            <a:off x="2194560" y="14630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NLP pipeline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600200" y="1965960"/>
            <a:ext cx="0" cy="13716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210312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011680" y="2103120"/>
            <a:ext cx="5760720" cy="457200"/>
          </a:xfrm>
          <a:prstGeom prst="rect">
            <a:avLst/>
          </a:prstGeom>
          <a:solidFill>
            <a:srgbClr val="E8F5F7"/>
          </a:solidFill>
          <a:ln/>
        </p:spPr>
      </p:sp>
      <p:sp>
        <p:nvSpPr>
          <p:cNvPr id="12" name="Text 10"/>
          <p:cNvSpPr/>
          <p:nvPr/>
        </p:nvSpPr>
        <p:spPr>
          <a:xfrm>
            <a:off x="2194560" y="21031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PhraseMatcher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600200" y="2606040"/>
            <a:ext cx="0" cy="13716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0" y="274320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011680" y="2743200"/>
            <a:ext cx="5760720" cy="457200"/>
          </a:xfrm>
          <a:prstGeom prst="rect">
            <a:avLst/>
          </a:prstGeom>
          <a:solidFill>
            <a:srgbClr val="E8F5F7"/>
          </a:solidFill>
          <a:ln/>
        </p:spPr>
      </p:sp>
      <p:sp>
        <p:nvSpPr>
          <p:cNvPr id="17" name="Text 15"/>
          <p:cNvSpPr/>
          <p:nvPr/>
        </p:nvSpPr>
        <p:spPr>
          <a:xfrm>
            <a:off x="2194560" y="27432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list of phrases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600200" y="3246120"/>
            <a:ext cx="0" cy="13716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71600" y="33832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137160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2011680" y="3383280"/>
            <a:ext cx="5760720" cy="457200"/>
          </a:xfrm>
          <a:prstGeom prst="rect">
            <a:avLst/>
          </a:prstGeom>
          <a:solidFill>
            <a:srgbClr val="E8F5F7"/>
          </a:solidFill>
          <a:ln/>
        </p:spPr>
      </p:sp>
      <p:sp>
        <p:nvSpPr>
          <p:cNvPr id="22" name="Text 20"/>
          <p:cNvSpPr/>
          <p:nvPr/>
        </p:nvSpPr>
        <p:spPr>
          <a:xfrm>
            <a:off x="2194560" y="33832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against documents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600200" y="3886200"/>
            <a:ext cx="0" cy="13716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71600" y="402336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137160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2011680" y="4023360"/>
            <a:ext cx="5760720" cy="457200"/>
          </a:xfrm>
          <a:prstGeom prst="rect">
            <a:avLst/>
          </a:prstGeom>
          <a:solidFill>
            <a:srgbClr val="E8F5F7"/>
          </a:solidFill>
          <a:ln/>
        </p:spPr>
      </p:sp>
      <p:sp>
        <p:nvSpPr>
          <p:cNvPr id="27" name="Text 25"/>
          <p:cNvSpPr/>
          <p:nvPr/>
        </p:nvSpPr>
        <p:spPr>
          <a:xfrm>
            <a:off x="2194560" y="402336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spans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371600" y="4297680"/>
            <a:ext cx="6400800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9" name="Text 27"/>
          <p:cNvSpPr/>
          <p:nvPr/>
        </p:nvSpPr>
        <p:spPr>
          <a:xfrm>
            <a:off x="1371600" y="4297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 dictionary-based extraction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Ruler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EntityRuler allows defining custom entities using rules.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371600" y="2011680"/>
            <a:ext cx="6400800" cy="2560320"/>
          </a:xfrm>
          <a:prstGeom prst="rect">
            <a:avLst/>
          </a:prstGeom>
          <a:solidFill>
            <a:srgbClr val="E8F5F7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219456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274320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306324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"Patient diagnosed with COVID-19"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54480" y="34747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379476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COVID-19 → Disease Entity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371600" y="4297680"/>
            <a:ext cx="6400800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4297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EntityRuler is useful for domain customization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Ruler Example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Entity Rule: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7315200" cy="82296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2402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patterns = [{"label": "DISEASE", "pattern": "COVID-19"}]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371600" y="3108960"/>
            <a:ext cx="6400800" cy="1188720"/>
          </a:xfrm>
          <a:prstGeom prst="rect">
            <a:avLst/>
          </a:prstGeom>
          <a:solidFill>
            <a:srgbClr val="E8F5F7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329184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</a:t>
            </a:r>
            <a:endParaRPr lang="en-US" sz="1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370332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011680" y="3703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spaCy recognizes COVID-19 as a DISEASE entity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Custom Rules are Important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Pretrained NLP models may miss: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1920240" cy="1645920"/>
          </a:xfrm>
          <a:prstGeom prst="rect">
            <a:avLst/>
          </a:prstGeom>
          <a:solidFill>
            <a:srgbClr val="E8F5F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1031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7432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Industry-specific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834640" y="1920240"/>
            <a:ext cx="1920240" cy="1645920"/>
          </a:xfrm>
          <a:prstGeom prst="rect">
            <a:avLst/>
          </a:prstGeom>
          <a:solidFill>
            <a:srgbClr val="E8F5F7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21031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834640" y="27432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drug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937760" y="1920240"/>
            <a:ext cx="1920240" cy="1645920"/>
          </a:xfrm>
          <a:prstGeom prst="rect">
            <a:avLst/>
          </a:prstGeom>
          <a:solidFill>
            <a:srgbClr val="E8F5F7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210312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937760" y="27432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company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brands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7040880" y="1920240"/>
            <a:ext cx="1920240" cy="1645920"/>
          </a:xfrm>
          <a:prstGeom prst="rect">
            <a:avLst/>
          </a:prstGeom>
          <a:solidFill>
            <a:srgbClr val="E8F5F7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2103120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040880" y="27432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abbreviations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914400" y="3931920"/>
            <a:ext cx="7315200" cy="7315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8" name="Text 12"/>
          <p:cNvSpPr/>
          <p:nvPr/>
        </p:nvSpPr>
        <p:spPr>
          <a:xfrm>
            <a:off x="914400" y="3931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systems ensure high recall for known patterns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Applications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NLP is widely used in: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554480" cy="1280160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0574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6060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28803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mining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331720" y="1920240"/>
            <a:ext cx="1554480" cy="1280160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205740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331720" y="26060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2331720" y="28803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processing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023360" y="1920240"/>
            <a:ext cx="1554480" cy="1280160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05740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023360" y="26060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4023360" y="28803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review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1463040" y="3291840"/>
            <a:ext cx="1554480" cy="1280160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0" y="342900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63040" y="39776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463040" y="42519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Complaint classification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3154680" y="3291840"/>
            <a:ext cx="1554480" cy="1280160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3429000"/>
            <a:ext cx="457200" cy="4572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154680" y="39776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Recruitment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3154680" y="42519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 screening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Combining Rules + ML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practice: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2743200" cy="2011680"/>
          </a:xfrm>
          <a:prstGeom prst="rect">
            <a:avLst/>
          </a:prstGeom>
          <a:solidFill>
            <a:srgbClr val="E8F5F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10312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2004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rule-based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for known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entities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291840" y="27432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3657600" y="1920240"/>
            <a:ext cx="2743200" cy="2011680"/>
          </a:xfrm>
          <a:prstGeom prst="rect">
            <a:avLst/>
          </a:prstGeom>
          <a:solidFill>
            <a:srgbClr val="E8F5F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103120"/>
            <a:ext cx="914400" cy="9144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40480" y="32004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ML models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unknown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492240" y="27432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3200" dirty="0"/>
          </a:p>
        </p:txBody>
      </p:sp>
      <p:sp>
        <p:nvSpPr>
          <p:cNvPr id="13" name="Shape 9"/>
          <p:cNvSpPr/>
          <p:nvPr/>
        </p:nvSpPr>
        <p:spPr>
          <a:xfrm>
            <a:off x="6858000" y="1920240"/>
            <a:ext cx="1828800" cy="2011680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560320"/>
            <a:ext cx="914400" cy="91440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914400" y="4114800"/>
            <a:ext cx="7315200" cy="6400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6" name="Text 11"/>
          <p:cNvSpPr/>
          <p:nvPr/>
        </p:nvSpPr>
        <p:spPr>
          <a:xfrm>
            <a:off x="914400" y="4114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systems improve accuracy and scalability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7 Summary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2743200" y="1463040"/>
            <a:ext cx="36576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learned: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2860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22860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NLP fundamentals</a:t>
            </a:r>
            <a:endParaRPr lang="en-US" sz="16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74320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920240" y="2743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spaCy pattern matching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200400"/>
            <a:ext cx="365760" cy="3657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920240" y="3200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PhraseMatcher for keyword extraction</a:t>
            </a:r>
            <a:endParaRPr lang="en-US" sz="16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3657600"/>
            <a:ext cx="365760" cy="36576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920240" y="3657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EntityRuler for custom entity labeling</a:t>
            </a:r>
            <a:endParaRPr lang="en-US" sz="16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4114800"/>
            <a:ext cx="365760" cy="36576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920240" y="4114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applications of rule-based systems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7: Rule-Based NLP with spaCy</dc:title>
  <dc:subject>PptxGenJS Presentation</dc:subject>
  <dc:creator>NLP Training Course</dc:creator>
  <cp:lastModifiedBy>NLP Training Course</cp:lastModifiedBy>
  <cp:revision>1</cp:revision>
  <dcterms:created xsi:type="dcterms:W3CDTF">2026-02-03T08:01:20Z</dcterms:created>
  <dcterms:modified xsi:type="dcterms:W3CDTF">2026-02-03T08:01:20Z</dcterms:modified>
</cp:coreProperties>
</file>