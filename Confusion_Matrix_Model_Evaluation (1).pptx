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6kI+Dsk4Kk3xgedTBM5XuFpBl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BE6A5F-67AE-4874-81B7-DB95F59014CF}">
  <a:tblStyle styleId="{DABE6A5F-67AE-4874-81B7-DB95F59014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1a1010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d1a1010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bd1a1010c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Understanding Metrics Trade-offs &amp; Real-World Applications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Guide to Precision, Recall, F1-Score, Accuracy, ROC &amp; AUC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097280" y="11887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Confusion Matrix Fundamentals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97280" y="13898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Understanding TP, TN, FP, FN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97280" y="18745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 Trade-offs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97280" y="20756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Precision vs Recall vs Accuracy vs F1-Score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25603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Real-World Case Studies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97280" y="27614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Medical Diagnosis, Fraud Detection, Email Spam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32461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ROC &amp; AUC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97280" y="34472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Threshold optimization and interpretation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40080" y="39319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97280" y="39319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Balanced vs Imbalanced Datasets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41330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Which metrics to use when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461772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40080" y="4617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" y="461772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Milestone-Based Improvement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97280" y="4818888"/>
            <a:ext cx="7132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Step-by-step accuracy enhancement strategy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Confusion Matrix Fundamentals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3"/>
          <p:cNvGraphicFramePr/>
          <p:nvPr/>
        </p:nvGraphicFramePr>
        <p:xfrm>
          <a:off x="9144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{DABE6A5F-67AE-4874-81B7-DB95F59014CF}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Positive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Negative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Positive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7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55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7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55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(TP)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1C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721C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1C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721C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(FN)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7D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Negative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640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85640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640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85640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(FP)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7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55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724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557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(TN)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3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TP (True Positive):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Correctly predicted positive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TN (True Negative):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Correctly predicted negative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FP (False Positive):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Incorrectly predicted as positive (Type I Error)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49377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FN (False Negative): </a:t>
            </a: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Incorrectly predicted as negative (Type II Error)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Performance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0080" y="1280160"/>
            <a:ext cx="7863840" cy="91440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2296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22960" y="1691640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(TP + TN) / (TP + TN + FP + FN)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840480" y="13716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Overall correctness of predictions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0080" y="2331720"/>
            <a:ext cx="7863840" cy="914400"/>
          </a:xfrm>
          <a:prstGeom prst="roundRect">
            <a:avLst>
              <a:gd fmla="val 16667" name="adj"/>
            </a:avLst>
          </a:prstGeom>
          <a:solidFill>
            <a:srgbClr val="00A89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822960" y="2423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22960" y="2743200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TP / (TP + FP)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840480" y="24231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How many predicted positives are actually positive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3383280"/>
            <a:ext cx="7863840" cy="9144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22960" y="3474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 (Sensitivity)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3794760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TP / (TP + FN)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840480" y="34747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How many actual positives were identified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0080" y="4434840"/>
            <a:ext cx="7863840" cy="914400"/>
          </a:xfrm>
          <a:prstGeom prst="roundRect">
            <a:avLst>
              <a:gd fmla="val 16667" name="adj"/>
            </a:avLst>
          </a:prstGeom>
          <a:solidFill>
            <a:srgbClr val="6D2E4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22960" y="4526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22960" y="4846320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× (Precision × Recall) / (Precision + Recall)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840480" y="45262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Harmonic mean of Precision and Recall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457200" y="-152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When Precision Increases 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4876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Understanding the Trade-offs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9906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FF3C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22960" y="11003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↕️ Accuracy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206240" y="11003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MAY INCREASE or DECREASE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22960" y="14660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Depends on dataset balance. In imbalanced datasets, may decrease if too conservative.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21336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8D7D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22960" y="22433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↓ Recall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206240" y="22433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TYPICALLY DECREASES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2960" y="26090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Being more precise means being more selective → fewer positives predicted → more FN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32766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FF3C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22960" y="33863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↕️ F1-Score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206240" y="33863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DEPENDS ON BALANCE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960" y="37520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F1 balances Precision &amp; Recall. If Precision↑ but Recall↓↓, F1 may decrease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1450" y="4255025"/>
            <a:ext cx="9038400" cy="73140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554449" y="4419597"/>
            <a:ext cx="7228200" cy="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Key Insight: Precision-Recall Trade-off is Fundamental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53075" y="4739650"/>
            <a:ext cx="8229600" cy="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Higher precision = more conservative model = fewer false alarms but more misses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457200" y="609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When Recall Increases 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5638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Understanding the Trade-offs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0080" y="10668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FF3C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22960" y="11765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↕️ Accuracy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206240" y="11765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MAY INCREASE or DECREASE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22960" y="15422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 imbalanced data with many negatives, may decrease due to increased FP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40080" y="22098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8D7D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22960" y="23195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↓ Precision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206240" y="23195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TYPICALLY DECREASES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2960" y="26852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Catching more positives means being less selective → more FP → lower precision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0080" y="3352800"/>
            <a:ext cx="7863900" cy="1005900"/>
          </a:xfrm>
          <a:prstGeom prst="roundRect">
            <a:avLst>
              <a:gd fmla="val 16667" name="adj"/>
            </a:avLst>
          </a:prstGeom>
          <a:solidFill>
            <a:srgbClr val="FFF3C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22960" y="34625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↕️ F1-Score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206240" y="346252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DEPENDS ON BALANCE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2960" y="3828288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F1 balances both. If Recall↑ but Precision↓↓, F1 may decrease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0" y="4450075"/>
            <a:ext cx="9018600" cy="7314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554480" y="4541520"/>
            <a:ext cx="603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💡 Key Insight: Recall-Precision Trade-off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1451" y="4815853"/>
            <a:ext cx="752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Higher recall = more aggressive model = catch more cases but more false alarms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457200" y="-152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Case Study 1: Cancer Detection 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716280"/>
            <a:ext cx="7863900" cy="640200"/>
          </a:xfrm>
          <a:prstGeom prst="roundRect">
            <a:avLst>
              <a:gd fmla="val 16667" name="adj"/>
            </a:avLst>
          </a:prstGeom>
          <a:solidFill>
            <a:srgbClr val="F8D7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22960" y="8077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Detecting cancer from medical images (Imbalanced: 2% cancer rate)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40080" y="16306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F8D7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22960" y="17404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Precision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0" y="1740408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1C2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721C24"/>
                </a:solidFill>
                <a:latin typeface="Calibri"/>
                <a:ea typeface="Calibri"/>
                <a:cs typeface="Calibri"/>
                <a:sym typeface="Calibri"/>
              </a:rPr>
              <a:t>❌ DANGEROUS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22960" y="20695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95% | Recall: 45%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22960" y="23439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Few false alarms, but misses 55% of cancers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30022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22960" y="31120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Recall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0" y="3112008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55724"/>
                </a:solidFill>
                <a:latin typeface="Calibri"/>
                <a:ea typeface="Calibri"/>
                <a:cs typeface="Calibri"/>
                <a:sym typeface="Calibri"/>
              </a:rPr>
              <a:t>✅ PREFERRED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22960" y="34411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60% | Recall: 98%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22960" y="37155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false alarms, but catches 98% of cancers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100" y="4483550"/>
            <a:ext cx="9079800" cy="73140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097280" y="4568925"/>
            <a:ext cx="694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Best Metric: Recall (minimize FN - missing cancer is deadly)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97305" y="4894940"/>
            <a:ext cx="694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Secondary: F1-Score for balance, but prioritize Recall heavily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457200" y="-914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Case Study 2: Credit Card Fraud 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40080" y="640080"/>
            <a:ext cx="7863900" cy="6402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22960" y="7315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Detecting fraudulent transactions (Highly Imbalanced: 0.1% fraud)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40080" y="15544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22960" y="16642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Precision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943600" y="166420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⚠️ RISKY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22960" y="1993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92% | Recall: 65%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22960" y="22677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Few false blocks, but misses 35% of fraud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40080" y="29260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822960" y="30358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Balanced F1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943600" y="303580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55724"/>
                </a:solidFill>
                <a:latin typeface="Calibri"/>
                <a:ea typeface="Calibri"/>
                <a:cs typeface="Calibri"/>
                <a:sym typeface="Calibri"/>
              </a:rPr>
              <a:t>✅ OPTIMAL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22960" y="33649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85% | Recall: 82% | F1: 83.5%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22960" y="36393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Good balance - catches most fraud, reasonable false alarms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0" y="4480550"/>
            <a:ext cx="9144000" cy="7314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82874" y="457200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🎯 Best Metric: F1-Score (balance detection &amp; customer experience)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58749" y="4892050"/>
            <a:ext cx="768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Why: Need high Recall (catch fraud) but also good Precision (don't block legitimate)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457200" y="-914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Case Study 3: Email Spam Filter 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40080" y="640080"/>
            <a:ext cx="7863900" cy="640200"/>
          </a:xfrm>
          <a:prstGeom prst="roundRect">
            <a:avLst>
              <a:gd fmla="val 16667" name="adj"/>
            </a:avLst>
          </a:prstGeom>
          <a:solidFill>
            <a:srgbClr val="6C7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22960" y="7315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Classifying emails as spam (Moderately Balanced: 40% spam)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5544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F8D7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822960" y="16642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Recall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217920" y="166420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1C2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721C24"/>
                </a:solidFill>
                <a:latin typeface="Calibri"/>
                <a:ea typeface="Calibri"/>
                <a:cs typeface="Calibri"/>
                <a:sym typeface="Calibri"/>
              </a:rPr>
              <a:t>❌ BAD UX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22960" y="1993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70% | Recall: 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22960" y="22677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Catches spam well, but sends important emails to spam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2926080"/>
            <a:ext cx="7863900" cy="1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50800">
            <a:solidFill>
              <a:srgbClr val="D4E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822960" y="303580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Precision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217920" y="303580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55724"/>
                </a:solidFill>
                <a:latin typeface="Calibri"/>
                <a:ea typeface="Calibri"/>
                <a:cs typeface="Calibri"/>
                <a:sym typeface="Calibri"/>
              </a:rPr>
              <a:t>✅ PREFERRED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22960" y="33649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Precision: 96% | Recall: 88%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22960" y="363931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Rarely blocks important emails, some spam gets through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1625" y="4480550"/>
            <a:ext cx="9038400" cy="731400"/>
          </a:xfrm>
          <a:prstGeom prst="roundRect">
            <a:avLst>
              <a:gd fmla="val 16667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82875" y="4572000"/>
            <a:ext cx="866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Best Metric: Precision (minimize FP - blocking important emails)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97275" y="4892050"/>
            <a:ext cx="754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Why: Missing spam is annoying, but losing important emails is unacceptable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457200" y="-152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ROC Curve: Receiver Operating Characteristic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7200" y="4876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Visualizing Model Performance Across All Thresholds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990600"/>
            <a:ext cx="384060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822960" y="112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is ROC Curve?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14400" y="158496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Plots TPR (Recall) vs FPR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14400" y="187756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TPR = TP / (TP + FN)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14400" y="217017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FPR = FP / (FP + TN)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14400" y="2462784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Shows threshold trade-offs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14400" y="275539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Diagonal = random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304800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Top-left corner = perfect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63440" y="990600"/>
            <a:ext cx="384060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846320" y="112776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to Interpret?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937760" y="158496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Curve closer to top-left = better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937760" y="187756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More area under curve = better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937760" y="217017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Steeper initial rise = better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937760" y="2462784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Select threshold based on needs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937760" y="275539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High TPR, low FPR = optimal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937760" y="304800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Compare multiple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40080" y="3550920"/>
            <a:ext cx="7863900" cy="164580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822960" y="3688080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Why ROC is Powerful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005840" y="4145280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Threshold-independent: Shows performance at all decision thresholds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005840" y="4465320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Robust to class imbalance: Works well even with skewed datasets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05840" y="4785360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Visual comparison: Easy to compare multiple models at a glance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457200" y="-1676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AUC: Area Under the ROC Curve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" y="3352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Single Metric to Evaluate Overall Model Performance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371600" y="838200"/>
            <a:ext cx="6400800" cy="640200"/>
          </a:xfrm>
          <a:prstGeom prst="roundRect">
            <a:avLst>
              <a:gd fmla="val 16667" name="adj"/>
            </a:avLst>
          </a:prstGeom>
          <a:solidFill>
            <a:srgbClr val="155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1554480" y="929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0.90 - 1.00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108960" y="929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754880" y="929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Outstanding discrimination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371600" y="1569720"/>
            <a:ext cx="6400800" cy="640200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554480" y="1661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0.80 - 0.90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108960" y="1661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754880" y="1661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predictive power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371600" y="2301240"/>
            <a:ext cx="6400800" cy="640200"/>
          </a:xfrm>
          <a:prstGeom prst="roundRect">
            <a:avLst>
              <a:gd fmla="val 16667" name="adj"/>
            </a:avLst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1554480" y="23926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0.70 - 0.80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108960" y="23926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54880" y="23926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Acceptable 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371600" y="3032760"/>
            <a:ext cx="6400800" cy="640200"/>
          </a:xfrm>
          <a:prstGeom prst="roundRect">
            <a:avLst>
              <a:gd fmla="val 16667" name="adj"/>
            </a:avLst>
          </a:prstGeom>
          <a:solidFill>
            <a:srgbClr val="FD7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1554480" y="3124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0.60 - 0.70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108960" y="3124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754880" y="3124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 discrimination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371600" y="3764280"/>
            <a:ext cx="6400800" cy="6402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1554480" y="3855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0.50 - 0.60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108960" y="3855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754880" y="3855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Barely better than random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d1a1010ca_0_0"/>
          <p:cNvSpPr/>
          <p:nvPr/>
        </p:nvSpPr>
        <p:spPr>
          <a:xfrm>
            <a:off x="640075" y="1600200"/>
            <a:ext cx="8258400" cy="11523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d1a1010ca_0_0"/>
          <p:cNvSpPr/>
          <p:nvPr/>
        </p:nvSpPr>
        <p:spPr>
          <a:xfrm>
            <a:off x="832129" y="1744240"/>
            <a:ext cx="7874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000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10"/>
              <a:buFont typeface="Calibri"/>
              <a:buNone/>
            </a:pPr>
            <a:r>
              <a:rPr b="1" i="0" lang="en-US" sz="231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🎯 AUC Key Properties</a:t>
            </a:r>
            <a:endParaRPr b="0" i="0" sz="2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bd1a1010ca_0_0"/>
          <p:cNvSpPr/>
          <p:nvPr/>
        </p:nvSpPr>
        <p:spPr>
          <a:xfrm>
            <a:off x="1024182" y="2080334"/>
            <a:ext cx="749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000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80"/>
              <a:buFont typeface="Calibri"/>
              <a:buNone/>
            </a:pPr>
            <a:r>
              <a:rPr b="0" i="0" lang="en-US" sz="168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Probability that model ranks random positive higher than random negative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bd1a1010ca_0_0"/>
          <p:cNvSpPr/>
          <p:nvPr/>
        </p:nvSpPr>
        <p:spPr>
          <a:xfrm>
            <a:off x="1024182" y="2349208"/>
            <a:ext cx="749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000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80"/>
              <a:buFont typeface="Calibri"/>
              <a:buNone/>
            </a:pPr>
            <a:r>
              <a:rPr b="0" i="0" lang="en-US" sz="168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Scale-invariant: Measures ranking quality, not absolute values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bd1a1010ca_0_0"/>
          <p:cNvSpPr/>
          <p:nvPr/>
        </p:nvSpPr>
        <p:spPr>
          <a:xfrm>
            <a:off x="1024182" y="2618083"/>
            <a:ext cx="749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000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80"/>
              <a:buFont typeface="Calibri"/>
              <a:buNone/>
            </a:pPr>
            <a:r>
              <a:rPr b="0" i="0" lang="en-US" sz="168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Classification-threshold-invariant: Independent of chosen cutoff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Balanced vs Imbalanced Datasets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Which Metrics to Use When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0080" y="1371600"/>
            <a:ext cx="3840480" cy="3657600"/>
          </a:xfrm>
          <a:prstGeom prst="roundRect">
            <a:avLst>
              <a:gd fmla="val 16667" name="adj"/>
            </a:avLst>
          </a:prstGeom>
          <a:solidFill>
            <a:srgbClr val="D4EDD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822960" y="1508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✅ Balanced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22960" y="19202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Classes roughly equal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(40-60% each)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14400" y="25603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⭐ 1. 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14400" y="27614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Reliable &amp; intuitive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914400" y="30175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⚖️ 2. F1-Score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914400" y="32186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Balance Prec &amp; Recall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914400" y="34747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📊 3. ROC-AUC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914400" y="36758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Overall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914400" y="39319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🎯 4. Precision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914400" y="41330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When FP costly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14400" y="43891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🔍 5. Recall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14400" y="45902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When FN costly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663440" y="1371600"/>
            <a:ext cx="3840480" cy="3657600"/>
          </a:xfrm>
          <a:prstGeom prst="roundRect">
            <a:avLst>
              <a:gd fmla="val 16667" name="adj"/>
            </a:avLst>
          </a:prstGeom>
          <a:solidFill>
            <a:srgbClr val="FFF3CD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846320" y="1508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⚠️ Imbalanced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846320" y="19202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class dominates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(95%+ majority)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937760" y="25603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🎯 1. PR-AUC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937760" y="27614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Better than ROC-AUC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4937760" y="30175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⚖️ 2. F1-Score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937760" y="32186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Or F2, Fβ variants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937760" y="34747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🔍 3. Recall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937760" y="36758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For minority 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37760" y="39319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4. Precision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937760" y="41330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For minority 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937760" y="43891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⚠️ ❌ 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937760" y="45902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MISLEADING!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457200" y="-1524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Milestone-Based Model Improvement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57200" y="4876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Step-by-Step Accuracy Enhancement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40080" y="990600"/>
            <a:ext cx="7863900" cy="91440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822960" y="10820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Baseline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22960" y="1402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Focus: Establish metrics foundation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840480" y="112776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Calculate all metrics (Acc, Prec, Recall, F1) • Plot ROC &amp; PR curves • Identify imbalance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22960" y="164896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Understand current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40080" y="2042160"/>
            <a:ext cx="7863900" cy="914400"/>
          </a:xfrm>
          <a:prstGeom prst="roundRect">
            <a:avLst>
              <a:gd fmla="val 16667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822960" y="21336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Quick Wins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22960" y="24536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Focus: Threshold 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3840480" y="217932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Adjust classification threshold • Balance Precision-Recall trade-off • Use F1/F2 for optimization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822960" y="270052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5-10%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40080" y="3093720"/>
            <a:ext cx="7863900" cy="91440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822960" y="318516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Feature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22960" y="35052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Focus: Improve signal quality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840480" y="323088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domain-specific features • Handle class imbalance (SMOTE) • Feature selection/reduction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822960" y="375208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10-20%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40080" y="4145280"/>
            <a:ext cx="7863900" cy="914400"/>
          </a:xfrm>
          <a:prstGeom prst="roundRect">
            <a:avLst>
              <a:gd fmla="val 16667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822960" y="423672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4: Model 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822960" y="4556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Focus: Hyperparameter 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840480" y="428244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Grid/Random search • Cross-validation • Ensemble methods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22960" y="480364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15-25% cumulative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Metric Selection Decision Tree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Choose the Right Metric for Your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14400" y="1371600"/>
            <a:ext cx="731520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097280" y="146304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 your dataset balanced?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280160" y="1783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D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4EDDA"/>
                </a:solidFill>
                <a:latin typeface="Calibri"/>
                <a:ea typeface="Calibri"/>
                <a:cs typeface="Calibri"/>
                <a:sym typeface="Calibri"/>
              </a:rPr>
              <a:t>✓ Yes: Use Accuracy as primary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754880" y="1783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3C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3CD"/>
                </a:solidFill>
                <a:latin typeface="Calibri"/>
                <a:ea typeface="Calibri"/>
                <a:cs typeface="Calibri"/>
                <a:sym typeface="Calibri"/>
              </a:rPr>
              <a:t>✗ No: ⬇️ Continue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914400" y="2331720"/>
            <a:ext cx="731520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1097280" y="24231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Which error is more costly?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280160" y="27432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Yes: False Positive → Use Precision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754880" y="27432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✗ No: False Negative → Use Recall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914400" y="3291840"/>
            <a:ext cx="731520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1097280" y="338328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Need balance between both?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1280160" y="37033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✓ Yes: Use F1-Score (or F2, Fβ)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4754880" y="37033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✗ No: Use domain-specific 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914400" y="4251960"/>
            <a:ext cx="731520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1097280" y="43434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Comparing multiple models?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280160" y="4663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✓ Yes: ROC-AUC (balanced) or PR-AUC (imbalanced)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754880" y="4663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8D4DB"/>
                </a:solidFill>
                <a:latin typeface="Calibri"/>
                <a:ea typeface="Calibri"/>
                <a:cs typeface="Calibri"/>
                <a:sym typeface="Calibri"/>
              </a:rPr>
              <a:t>✗ No: Stick with chosen 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 🎯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No single metric is perfect - always consider multiple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914400" y="18470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Precision ↑ typically means Recall ↓ (and vice versa)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914400" y="232257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Accuracy misleads on imbalanced datasets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914400" y="2798064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F1-Score balances Precision &amp; Recall effectively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914400" y="327355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ROC-AUC for balanced, PR-AUC for imbalanced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Choose metrics based on business cost of errors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914400" y="422452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Medical: Prioritize Recall | Spam: Prioritize Precision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914400" y="470001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Improve iteratively through milestone-based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1828800" y="5303520"/>
            <a:ext cx="5486400" cy="548640"/>
          </a:xfrm>
          <a:prstGeom prst="roundRect">
            <a:avLst>
              <a:gd fmla="val 1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2011680" y="5394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Always validate metrics with domain experts!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2026-02-04T17:32:38Z</dcterms:created>
  <dc:creator>ML Model Evaluation Expert</dc:creator>
</cp:coreProperties>
</file>